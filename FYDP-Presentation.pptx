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Comfortaa Light"/>
      <p:regular r:id="rId24"/>
      <p:bold r:id="rId25"/>
    </p:embeddedFont>
    <p:embeddedFont>
      <p:font typeface="Raleway Medium"/>
      <p:regular r:id="rId26"/>
      <p:bold r:id="rId27"/>
      <p:italic r:id="rId28"/>
      <p:boldItalic r:id="rId29"/>
    </p:embeddedFont>
    <p:embeddedFont>
      <p:font typeface="Old Standard TT"/>
      <p:regular r:id="rId30"/>
      <p:bold r:id="rId31"/>
      <p:italic r:id="rId32"/>
    </p:embeddedFont>
    <p:embeddedFont>
      <p:font typeface="Comfortaa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D9D246-E2A2-4A5E-B016-3BFD5D29C7AC}">
  <a:tblStyle styleId="{55D9D246-E2A2-4A5E-B016-3BFD5D29C7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ComfortaaLight-regular.fntdata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RalewayMedium-regular.fntdata"/><Relationship Id="rId25" Type="http://schemas.openxmlformats.org/officeDocument/2006/relationships/font" Target="fonts/ComfortaaLight-bold.fntdata"/><Relationship Id="rId28" Type="http://schemas.openxmlformats.org/officeDocument/2006/relationships/font" Target="fonts/RalewayMedium-italic.fntdata"/><Relationship Id="rId27" Type="http://schemas.openxmlformats.org/officeDocument/2006/relationships/font" Target="fonts/RalewayMedium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alewayMedium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ldStandardTT-bold.fntdata"/><Relationship Id="rId30" Type="http://schemas.openxmlformats.org/officeDocument/2006/relationships/font" Target="fonts/OldStandardTT-regular.fntdata"/><Relationship Id="rId11" Type="http://schemas.openxmlformats.org/officeDocument/2006/relationships/slide" Target="slides/slide4.xml"/><Relationship Id="rId33" Type="http://schemas.openxmlformats.org/officeDocument/2006/relationships/font" Target="fonts/Comfortaa-bold.fntdata"/><Relationship Id="rId10" Type="http://schemas.openxmlformats.org/officeDocument/2006/relationships/slide" Target="slides/slide3.xml"/><Relationship Id="rId32" Type="http://schemas.openxmlformats.org/officeDocument/2006/relationships/font" Target="fonts/OldStandardTT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f97891209_0_3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bf97891209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f97891209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f97891209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f97891209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f97891209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10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10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10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p11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11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2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" name="Google Shape;59;p13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" name="Google Shape;73;p17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7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b="0" i="0" sz="3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b="0" i="0" sz="18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 b="0" i="0" sz="14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/>
          <p:nvPr>
            <p:ph type="ctrTitle"/>
          </p:nvPr>
        </p:nvSpPr>
        <p:spPr>
          <a:xfrm>
            <a:off x="436500" y="0"/>
            <a:ext cx="87075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44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Leukemia Cell Classification Using Deep Learning Model</a:t>
            </a:r>
            <a:endParaRPr sz="4400"/>
          </a:p>
        </p:txBody>
      </p:sp>
      <p:sp>
        <p:nvSpPr>
          <p:cNvPr id="92" name="Google Shape;92;p21"/>
          <p:cNvSpPr txBox="1"/>
          <p:nvPr>
            <p:ph idx="1" type="subTitle"/>
          </p:nvPr>
        </p:nvSpPr>
        <p:spPr>
          <a:xfrm>
            <a:off x="730950" y="2571754"/>
            <a:ext cx="8118600" cy="1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 final year design project for thesis defense and supervisor evaluation.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>
            <p:ph type="ctrTitle"/>
          </p:nvPr>
        </p:nvSpPr>
        <p:spPr>
          <a:xfrm>
            <a:off x="1620100" y="0"/>
            <a:ext cx="57111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n-US" sz="44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Team Information</a:t>
            </a:r>
            <a:endParaRPr sz="4400"/>
          </a:p>
        </p:txBody>
      </p:sp>
      <p:sp>
        <p:nvSpPr>
          <p:cNvPr id="98" name="Google Shape;98;p22"/>
          <p:cNvSpPr/>
          <p:nvPr/>
        </p:nvSpPr>
        <p:spPr>
          <a:xfrm>
            <a:off x="590500" y="1839125"/>
            <a:ext cx="1959900" cy="602100"/>
          </a:xfrm>
          <a:prstGeom prst="roundRect">
            <a:avLst>
              <a:gd fmla="val 11429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Afia Tasnim Ria</a:t>
            </a:r>
            <a:b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(0112231058) 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14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2"/>
          <p:cNvSpPr/>
          <p:nvPr/>
        </p:nvSpPr>
        <p:spPr>
          <a:xfrm>
            <a:off x="3441125" y="1839125"/>
            <a:ext cx="1959900" cy="602100"/>
          </a:xfrm>
          <a:prstGeom prst="roundRect">
            <a:avLst>
              <a:gd fmla="val 11429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Salah Uddin Selim (0112230512)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14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2"/>
          <p:cNvSpPr/>
          <p:nvPr/>
        </p:nvSpPr>
        <p:spPr>
          <a:xfrm>
            <a:off x="6114100" y="1839125"/>
            <a:ext cx="1959900" cy="602100"/>
          </a:xfrm>
          <a:prstGeom prst="roundRect">
            <a:avLst>
              <a:gd fmla="val 11429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Sajedur Rahman</a:t>
            </a:r>
            <a:b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(0112230857) 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14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2"/>
          <p:cNvSpPr/>
          <p:nvPr/>
        </p:nvSpPr>
        <p:spPr>
          <a:xfrm>
            <a:off x="1938400" y="2898425"/>
            <a:ext cx="1959900" cy="602100"/>
          </a:xfrm>
          <a:prstGeom prst="roundRect">
            <a:avLst>
              <a:gd fmla="val 11429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Tanvin Chowdhury (011222124)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14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22"/>
          <p:cNvSpPr/>
          <p:nvPr/>
        </p:nvSpPr>
        <p:spPr>
          <a:xfrm>
            <a:off x="4775475" y="2898425"/>
            <a:ext cx="1959900" cy="602100"/>
          </a:xfrm>
          <a:prstGeom prst="roundRect">
            <a:avLst>
              <a:gd fmla="val 11429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Tasnema Ferdous</a:t>
            </a:r>
            <a:b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(011222123)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14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2"/>
          <p:cNvSpPr/>
          <p:nvPr/>
        </p:nvSpPr>
        <p:spPr>
          <a:xfrm>
            <a:off x="3170525" y="3957725"/>
            <a:ext cx="2230500" cy="602100"/>
          </a:xfrm>
          <a:prstGeom prst="roundRect">
            <a:avLst>
              <a:gd fmla="val 11429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Year Project Design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4000A | FYDP 1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2"/>
          <p:cNvSpPr/>
          <p:nvPr/>
        </p:nvSpPr>
        <p:spPr>
          <a:xfrm>
            <a:off x="319900" y="4277050"/>
            <a:ext cx="2137500" cy="814200"/>
          </a:xfrm>
          <a:prstGeom prst="roundRect">
            <a:avLst>
              <a:gd fmla="val 11429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Teacher </a:t>
            </a:r>
            <a:b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Al-Sakib Khan Pathan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Professor, Dept. of CSE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2"/>
          <p:cNvSpPr/>
          <p:nvPr/>
        </p:nvSpPr>
        <p:spPr>
          <a:xfrm>
            <a:off x="6114150" y="4277050"/>
            <a:ext cx="2230500" cy="814200"/>
          </a:xfrm>
          <a:prstGeom prst="roundRect">
            <a:avLst>
              <a:gd fmla="val 11429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</a:t>
            </a: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</a:t>
            </a:r>
            <a:b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Muhammad Nomani Kabir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Professor, Dept. of CSE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590499" y="-303800"/>
            <a:ext cx="3652900" cy="13261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5774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6000"/>
              <a:buNone/>
            </a:pPr>
            <a:r>
              <a:rPr b="1" lang="en-US" sz="40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Introduction</a:t>
            </a:r>
            <a:endParaRPr sz="4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3"/>
          <p:cNvSpPr txBox="1"/>
          <p:nvPr/>
        </p:nvSpPr>
        <p:spPr>
          <a:xfrm>
            <a:off x="590499" y="1022350"/>
            <a:ext cx="45720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Leukemia, a cancer of blood-forming tissues, impacts blood and bone marrow, necessitating early and accurate detection for effective treatment.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Leukemia, a cancer of blood-forming tissues, impacts blood and bone marrow, necessitating early and accurate detection for effective treatment.</a:t>
            </a:r>
            <a:endParaRPr/>
          </a:p>
        </p:txBody>
      </p:sp>
      <p:sp>
        <p:nvSpPr>
          <p:cNvPr id="112" name="Google Shape;112;p23"/>
          <p:cNvSpPr/>
          <p:nvPr/>
        </p:nvSpPr>
        <p:spPr>
          <a:xfrm>
            <a:off x="590499" y="1918280"/>
            <a:ext cx="4737199" cy="800100"/>
          </a:xfrm>
          <a:prstGeom prst="roundRect">
            <a:avLst>
              <a:gd fmla="val 11429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Leukemia Overview: </a:t>
            </a:r>
            <a:endParaRPr/>
          </a:p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D7D4C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Cancer affecting blood and bone marrow.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3"/>
          <p:cNvSpPr/>
          <p:nvPr/>
        </p:nvSpPr>
        <p:spPr>
          <a:xfrm>
            <a:off x="590501" y="2842431"/>
            <a:ext cx="4737199" cy="800100"/>
          </a:xfrm>
          <a:prstGeom prst="roundRect">
            <a:avLst>
              <a:gd fmla="val 11429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Early Detection:</a:t>
            </a:r>
            <a:endParaRPr/>
          </a:p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D7D4CC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Crucial for improving patient outcomes.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3"/>
          <p:cNvSpPr/>
          <p:nvPr/>
        </p:nvSpPr>
        <p:spPr>
          <a:xfrm>
            <a:off x="590499" y="3766582"/>
            <a:ext cx="4737199" cy="800100"/>
          </a:xfrm>
          <a:prstGeom prst="roundRect">
            <a:avLst>
              <a:gd fmla="val 11429" name="adj"/>
            </a:avLst>
          </a:prstGeom>
          <a:solidFill>
            <a:srgbClr val="27272B"/>
          </a:solidFill>
          <a:ln cap="flat" cmpd="sng" w="30475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AI in Diagnosis:</a:t>
            </a:r>
            <a:endParaRPr/>
          </a:p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Machine learning and deep learning offer advanced diagnostic capabilities.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779910" y="-399853"/>
            <a:ext cx="8115352" cy="13261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3531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6000"/>
              <a:buNone/>
            </a:pPr>
            <a:r>
              <a:rPr b="1" lang="en-US" sz="3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Background: Traditional Diagnosis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4"/>
          <p:cNvSpPr txBox="1"/>
          <p:nvPr/>
        </p:nvSpPr>
        <p:spPr>
          <a:xfrm>
            <a:off x="4572000" y="1140279"/>
            <a:ext cx="457200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Microscopic Examination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Conventional leukemia diagnosis relies on manual microscopic analysis of blood samples.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D7D4CC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This method is labor-intensive and requires specialized expertise.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4"/>
          <p:cNvSpPr/>
          <p:nvPr/>
        </p:nvSpPr>
        <p:spPr>
          <a:xfrm>
            <a:off x="4762054" y="3122116"/>
            <a:ext cx="1687860" cy="210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3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Limitations</a:t>
            </a:r>
            <a:endParaRPr b="0" i="0" sz="13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4"/>
          <p:cNvSpPr/>
          <p:nvPr/>
        </p:nvSpPr>
        <p:spPr>
          <a:xfrm>
            <a:off x="4762054" y="3482578"/>
            <a:ext cx="3855021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57828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Time-consuming process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4"/>
          <p:cNvSpPr/>
          <p:nvPr/>
        </p:nvSpPr>
        <p:spPr>
          <a:xfrm>
            <a:off x="4762054" y="3775993"/>
            <a:ext cx="3855021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57828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Dependency on expert hematologists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4"/>
          <p:cNvSpPr/>
          <p:nvPr/>
        </p:nvSpPr>
        <p:spPr>
          <a:xfrm>
            <a:off x="4762054" y="4069408"/>
            <a:ext cx="3855021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57828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Susceptible to human error and subjectivity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783460" y="240675"/>
            <a:ext cx="4406951" cy="81397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3531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6000"/>
              <a:buNone/>
            </a:pPr>
            <a:r>
              <a:rPr b="1" lang="en-US" sz="3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Problem Statement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3969023" y="1312665"/>
            <a:ext cx="347142" cy="347142"/>
          </a:xfrm>
          <a:prstGeom prst="roundRect">
            <a:avLst>
              <a:gd fmla="val 66675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4039716" y="1357610"/>
            <a:ext cx="2056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4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endParaRPr b="0" i="0" sz="15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4470425" y="1365647"/>
            <a:ext cx="265680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4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Manual Detection Challenges</a:t>
            </a:r>
            <a:endParaRPr b="0" i="0" sz="13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3969023" y="2474938"/>
            <a:ext cx="347142" cy="347142"/>
          </a:xfrm>
          <a:prstGeom prst="roundRect">
            <a:avLst>
              <a:gd fmla="val 66675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4039716" y="2519883"/>
            <a:ext cx="2056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4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2</a:t>
            </a:r>
            <a:endParaRPr b="0" i="0" sz="15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4470425" y="2527920"/>
            <a:ext cx="2308101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4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Early-Stage Identification</a:t>
            </a:r>
            <a:endParaRPr b="0" i="0" sz="13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3969023" y="3637211"/>
            <a:ext cx="347142" cy="347142"/>
          </a:xfrm>
          <a:prstGeom prst="roundRect">
            <a:avLst>
              <a:gd fmla="val 66675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4039716" y="3682157"/>
            <a:ext cx="20568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94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endParaRPr b="0" i="0" sz="159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5"/>
          <p:cNvSpPr/>
          <p:nvPr/>
        </p:nvSpPr>
        <p:spPr>
          <a:xfrm>
            <a:off x="4470425" y="3690193"/>
            <a:ext cx="2210172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4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Lack of Automated Tools</a:t>
            </a:r>
            <a:endParaRPr b="0" i="0" sz="13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4323262" y="1659807"/>
            <a:ext cx="4572000" cy="565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8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Slow, subjective, and resource-intensive diagnostic process.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4323262" y="2822080"/>
            <a:ext cx="4572000" cy="565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8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Difficult to detect leukemia in its nascent stages using current methods.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4394597" y="3984353"/>
            <a:ext cx="4572000" cy="565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84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Absence of efficient, consistent, and automated classification tools.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704378" y="127197"/>
            <a:ext cx="7760172" cy="86358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7156"/>
              </a:lnSpc>
              <a:spcBef>
                <a:spcPts val="0"/>
              </a:spcBef>
              <a:spcAft>
                <a:spcPts val="0"/>
              </a:spcAft>
              <a:buClr>
                <a:srgbClr val="FFE14D"/>
              </a:buClr>
              <a:buSzPts val="6000"/>
              <a:buNone/>
            </a:pPr>
            <a:r>
              <a:rPr b="1" lang="en-US" sz="3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Motivation: Why This Research Matters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/>
          <p:nvPr/>
        </p:nvSpPr>
        <p:spPr>
          <a:xfrm>
            <a:off x="3826297" y="1655192"/>
            <a:ext cx="1584424" cy="1489100"/>
          </a:xfrm>
          <a:prstGeom prst="roundRect">
            <a:avLst>
              <a:gd fmla="val 11435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/>
          <p:nvPr/>
        </p:nvSpPr>
        <p:spPr>
          <a:xfrm>
            <a:off x="3939778" y="1768674"/>
            <a:ext cx="340519" cy="340519"/>
          </a:xfrm>
          <a:prstGeom prst="roundRect">
            <a:avLst>
              <a:gd fmla="val 16781538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9" name="Google Shape;1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3391" y="1862286"/>
            <a:ext cx="153219" cy="15321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6"/>
          <p:cNvSpPr/>
          <p:nvPr/>
        </p:nvSpPr>
        <p:spPr>
          <a:xfrm>
            <a:off x="3939779" y="2192685"/>
            <a:ext cx="1261318" cy="157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8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Global Impact</a:t>
            </a:r>
            <a:endParaRPr b="0" i="0" sz="96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3939778" y="2400375"/>
            <a:ext cx="1357461" cy="472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3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Addressing the severity and widespread impact of leukemia.</a:t>
            </a:r>
            <a:endParaRPr b="0" i="0" sz="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5494214" y="1655192"/>
            <a:ext cx="1584499" cy="1489100"/>
          </a:xfrm>
          <a:prstGeom prst="roundRect">
            <a:avLst>
              <a:gd fmla="val 11435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6"/>
          <p:cNvSpPr/>
          <p:nvPr/>
        </p:nvSpPr>
        <p:spPr>
          <a:xfrm>
            <a:off x="5607695" y="1768674"/>
            <a:ext cx="340519" cy="340519"/>
          </a:xfrm>
          <a:prstGeom prst="roundRect">
            <a:avLst>
              <a:gd fmla="val 16781538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4" name="Google Shape;15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01308" y="1862286"/>
            <a:ext cx="153219" cy="15321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/>
          <p:nvPr/>
        </p:nvSpPr>
        <p:spPr>
          <a:xfrm>
            <a:off x="5607695" y="2192685"/>
            <a:ext cx="1261318" cy="157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8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Improved Survival</a:t>
            </a:r>
            <a:endParaRPr b="0" i="0" sz="96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5607695" y="2400375"/>
            <a:ext cx="1357536" cy="472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3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Early detection significantly enhances patient survival rates.</a:t>
            </a:r>
            <a:endParaRPr b="0" i="0" sz="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7162205" y="1655192"/>
            <a:ext cx="1584499" cy="1489100"/>
          </a:xfrm>
          <a:prstGeom prst="roundRect">
            <a:avLst>
              <a:gd fmla="val 11435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7275686" y="1768674"/>
            <a:ext cx="340519" cy="340519"/>
          </a:xfrm>
          <a:prstGeom prst="roundRect">
            <a:avLst>
              <a:gd fmla="val 16781538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9" name="Google Shape;15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69299" y="1862286"/>
            <a:ext cx="153219" cy="15321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/>
          <p:nvPr/>
        </p:nvSpPr>
        <p:spPr>
          <a:xfrm>
            <a:off x="7275687" y="2192685"/>
            <a:ext cx="1261318" cy="157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8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AI Assistance</a:t>
            </a:r>
            <a:endParaRPr b="0" i="0" sz="96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6"/>
          <p:cNvSpPr/>
          <p:nvPr/>
        </p:nvSpPr>
        <p:spPr>
          <a:xfrm>
            <a:off x="7275686" y="2400375"/>
            <a:ext cx="1357536" cy="630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3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AI-based models can empower hematologists with better diagnostic support.</a:t>
            </a:r>
            <a:endParaRPr b="0" i="0" sz="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3826297" y="3227785"/>
            <a:ext cx="4920407" cy="1016273"/>
          </a:xfrm>
          <a:prstGeom prst="roundRect">
            <a:avLst>
              <a:gd fmla="val 16756" name="adj"/>
            </a:avLst>
          </a:prstGeom>
          <a:solidFill>
            <a:srgbClr val="464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3939778" y="3341266"/>
            <a:ext cx="340519" cy="340519"/>
          </a:xfrm>
          <a:prstGeom prst="roundRect">
            <a:avLst>
              <a:gd fmla="val 16781538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4" name="Google Shape;16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33391" y="3434879"/>
            <a:ext cx="153219" cy="15321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6"/>
          <p:cNvSpPr/>
          <p:nvPr/>
        </p:nvSpPr>
        <p:spPr>
          <a:xfrm>
            <a:off x="3939779" y="3765277"/>
            <a:ext cx="1261318" cy="157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8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Reduced Delays</a:t>
            </a:r>
            <a:endParaRPr b="0" i="0" sz="96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3939778" y="3972967"/>
            <a:ext cx="4693444" cy="157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3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Automation minimizes diagnostic delays and alleviates workload.</a:t>
            </a:r>
            <a:endParaRPr b="0" i="0" sz="8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1" name="Google Shape;171;p27"/>
          <p:cNvGraphicFramePr/>
          <p:nvPr/>
        </p:nvGraphicFramePr>
        <p:xfrm>
          <a:off x="112000" y="58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{55D9D246-E2A2-4A5E-B016-3BFD5D29C7AC}</a:tableStyleId>
              </a:tblPr>
              <a:tblGrid>
                <a:gridCol w="2186100"/>
                <a:gridCol w="2186100"/>
                <a:gridCol w="2186100"/>
                <a:gridCol w="2186100"/>
              </a:tblGrid>
              <a:tr h="424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Name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Result / Outcome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Contribution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Solution / Approach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815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Detection and Classification of Acute Lymphoblastic Leukemia Utilizing Deep Transfer Learning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MobileNetV2: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99.69%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accuracy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Proved effectiveness of transfer learning for leukemia detection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MobileNetV2 + Custom CNN, SMOTE, data augmentation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6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Identification of Leukemia Subtypes from Microscopic Images Using CNN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88%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(binary),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81%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(multi-class)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First CNN-based multi-subtype leukemia classification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 with ALL-IDB &amp; ASH datasets, augmentation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6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Model for Early ALL Detection Using Microscope Images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96%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accuracy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Optimized CNN outperformed ResNet50 &amp; YOLOv8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CNN with heavy augmentation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6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Diagnosing Leukemia Using Ensemble &amp; Pretrained CNN (ResNet)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ResNet superior to basic CNN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Showed depth improves performance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Pretrained ResNet + ensemble learning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6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Leukemia Cell Classification Using Machine &amp; Deep Learning (ResNet)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95% accuracy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F1 = 93%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Demonstrated ResNet captures cellular features well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Transfer learning ResNet + preprocessing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662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Quantifying Imbalanced Classification Methods for Leukemia Detection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</a:t>
                      </a:r>
                      <a:r>
                        <a:rPr b="1"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90%</a:t>
                      </a: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accuracy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Highlighted importance of imbalance handling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Oversampling, undersampling, cost-sensitive learning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0" y="729500"/>
            <a:ext cx="3822000" cy="30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Current Challenges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Font typeface="Times New Roman"/>
              <a:buChar char="-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Limited and Single-Center Datasets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-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Class Imbalance and Data Quality Issues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-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Focus on Limited Leukemia Subtypes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-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Black-box models with high computation cost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-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Lack of Standardized Evaluation and Cross-Domain Testing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8"/>
          <p:cNvSpPr txBox="1"/>
          <p:nvPr>
            <p:ph idx="2" type="body"/>
          </p:nvPr>
        </p:nvSpPr>
        <p:spPr>
          <a:xfrm>
            <a:off x="5400575" y="729500"/>
            <a:ext cx="3743400" cy="3034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Font typeface="Times New Roman"/>
              <a:buChar char="-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Collect large multi-hospital dataset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-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Advanced data balancing and preprocessing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-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Multi-class leukemia detection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-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Optimized, Interpretable and End-to-End Deep Learning Framework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-"/>
            </a:pPr>
            <a:r>
              <a:rPr lang="en-US" sz="1500">
                <a:latin typeface="Times New Roman"/>
                <a:ea typeface="Times New Roman"/>
                <a:cs typeface="Times New Roman"/>
                <a:sym typeface="Times New Roman"/>
              </a:rPr>
              <a:t>Standardized Evaluation and Cross-Hospital Validation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8" name="Google Shape;178;p28"/>
          <p:cNvCxnSpPr/>
          <p:nvPr/>
        </p:nvCxnSpPr>
        <p:spPr>
          <a:xfrm flipH="1" rot="10800000">
            <a:off x="2564150" y="960650"/>
            <a:ext cx="2850300" cy="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/>
          <p:nvPr/>
        </p:nvSpPr>
        <p:spPr>
          <a:xfrm>
            <a:off x="540023" y="1232074"/>
            <a:ext cx="583689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88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Research Methodology Overview</a:t>
            </a:r>
            <a:endParaRPr b="0" i="0" sz="26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9"/>
          <p:cNvSpPr/>
          <p:nvPr/>
        </p:nvSpPr>
        <p:spPr>
          <a:xfrm>
            <a:off x="540024" y="1969294"/>
            <a:ext cx="8063954" cy="246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This presentation focuses on the core model architectures employed for leukemia blood cancer detection.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9"/>
          <p:cNvSpPr/>
          <p:nvPr/>
        </p:nvSpPr>
        <p:spPr>
          <a:xfrm>
            <a:off x="540023" y="2389733"/>
            <a:ext cx="154261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8" u="none" cap="none" strike="noStrike">
                <a:solidFill>
                  <a:srgbClr val="D7D4CC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01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9"/>
          <p:cNvSpPr/>
          <p:nvPr/>
        </p:nvSpPr>
        <p:spPr>
          <a:xfrm>
            <a:off x="540024" y="2632918"/>
            <a:ext cx="2585144" cy="19050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9"/>
          <p:cNvSpPr/>
          <p:nvPr/>
        </p:nvSpPr>
        <p:spPr>
          <a:xfrm>
            <a:off x="540023" y="2748111"/>
            <a:ext cx="17145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4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Model Selection</a:t>
            </a:r>
            <a:endParaRPr b="0" i="0" sz="13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9"/>
          <p:cNvSpPr/>
          <p:nvPr/>
        </p:nvSpPr>
        <p:spPr>
          <a:xfrm>
            <a:off x="540024" y="3054995"/>
            <a:ext cx="2585144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Choosing optimal Machine Learning and Deep Learning algorithms.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9"/>
          <p:cNvSpPr/>
          <p:nvPr/>
        </p:nvSpPr>
        <p:spPr>
          <a:xfrm>
            <a:off x="3279428" y="2389733"/>
            <a:ext cx="154261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8" u="none" cap="none" strike="noStrike">
                <a:solidFill>
                  <a:srgbClr val="D7D4CC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02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9"/>
          <p:cNvSpPr/>
          <p:nvPr/>
        </p:nvSpPr>
        <p:spPr>
          <a:xfrm>
            <a:off x="3279428" y="2632918"/>
            <a:ext cx="2585144" cy="19050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9"/>
          <p:cNvSpPr/>
          <p:nvPr/>
        </p:nvSpPr>
        <p:spPr>
          <a:xfrm>
            <a:off x="3279428" y="2748111"/>
            <a:ext cx="1841599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4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Architectural Design</a:t>
            </a:r>
            <a:endParaRPr b="0" i="0" sz="13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9"/>
          <p:cNvSpPr/>
          <p:nvPr/>
        </p:nvSpPr>
        <p:spPr>
          <a:xfrm>
            <a:off x="3279428" y="3054995"/>
            <a:ext cx="2585144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Developing and refining model structures for specific tasks.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9"/>
          <p:cNvSpPr/>
          <p:nvPr/>
        </p:nvSpPr>
        <p:spPr>
          <a:xfrm>
            <a:off x="6018833" y="2389733"/>
            <a:ext cx="154261" cy="1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8" u="none" cap="none" strike="noStrike">
                <a:solidFill>
                  <a:srgbClr val="D7D4CC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03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6018833" y="2632918"/>
            <a:ext cx="2585144" cy="19050"/>
          </a:xfrm>
          <a:prstGeom prst="rect">
            <a:avLst/>
          </a:prstGeom>
          <a:solidFill>
            <a:srgbClr val="FFE1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6018833" y="2748111"/>
            <a:ext cx="21685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4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Performance Evaluation</a:t>
            </a:r>
            <a:endParaRPr b="0" i="0" sz="13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6018833" y="3054995"/>
            <a:ext cx="2585144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Assessing model accuracy and efficiency post-training.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/>
          <p:nvPr/>
        </p:nvSpPr>
        <p:spPr>
          <a:xfrm>
            <a:off x="3969024" y="765944"/>
            <a:ext cx="4634954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0"/>
          <p:cNvSpPr/>
          <p:nvPr/>
        </p:nvSpPr>
        <p:spPr>
          <a:xfrm>
            <a:off x="5287194" y="2599595"/>
            <a:ext cx="305656" cy="52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0"/>
          <p:cNvSpPr/>
          <p:nvPr/>
        </p:nvSpPr>
        <p:spPr>
          <a:xfrm>
            <a:off x="4761045" y="2573425"/>
            <a:ext cx="305656" cy="104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0"/>
          <p:cNvSpPr/>
          <p:nvPr/>
        </p:nvSpPr>
        <p:spPr>
          <a:xfrm>
            <a:off x="4266344" y="2558359"/>
            <a:ext cx="305656" cy="104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3750246" y="2599595"/>
            <a:ext cx="305656" cy="52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0"/>
          <p:cNvSpPr/>
          <p:nvPr/>
        </p:nvSpPr>
        <p:spPr>
          <a:xfrm>
            <a:off x="5978277" y="1993478"/>
            <a:ext cx="2630388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Constructs an optimal separating hyperplane in a high-dimensional space.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0"/>
          <p:cNvSpPr/>
          <p:nvPr/>
        </p:nvSpPr>
        <p:spPr>
          <a:xfrm>
            <a:off x="5978277" y="2788146"/>
            <a:ext cx="2630388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Utilizes kernel functions to transform data for effective non-linear classification.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0"/>
          <p:cNvSpPr/>
          <p:nvPr/>
        </p:nvSpPr>
        <p:spPr>
          <a:xfrm>
            <a:off x="5978277" y="3582814"/>
            <a:ext cx="2630388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Maximizes the margin between classes, enhancing generalization capabilities.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0"/>
          <p:cNvSpPr txBox="1"/>
          <p:nvPr>
            <p:ph type="title"/>
          </p:nvPr>
        </p:nvSpPr>
        <p:spPr>
          <a:xfrm>
            <a:off x="3098800" y="1839634"/>
            <a:ext cx="6127750" cy="3441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08333"/>
              <a:buNone/>
            </a:pPr>
            <a:r>
              <a:rPr b="1" lang="en-US" sz="3200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Support Vector Machine (SVM)</a:t>
            </a:r>
            <a:b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02" y="1478599"/>
            <a:ext cx="1965354" cy="2956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/>
          <p:nvPr/>
        </p:nvSpPr>
        <p:spPr>
          <a:xfrm>
            <a:off x="3969024" y="765944"/>
            <a:ext cx="4634954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1"/>
          <p:cNvSpPr txBox="1"/>
          <p:nvPr>
            <p:ph type="title"/>
          </p:nvPr>
        </p:nvSpPr>
        <p:spPr>
          <a:xfrm>
            <a:off x="3098800" y="1839634"/>
            <a:ext cx="6127750" cy="3441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1111"/>
              <a:buNone/>
            </a:pPr>
            <a:r>
              <a:rPr b="1" lang="en-US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Decision Tree</a:t>
            </a:r>
            <a:b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17" name="Google Shape;217;p31"/>
          <p:cNvSpPr/>
          <p:nvPr/>
        </p:nvSpPr>
        <p:spPr>
          <a:xfrm>
            <a:off x="4661173" y="1157733"/>
            <a:ext cx="3429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8" name="Google Shape;2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1250" y="2029700"/>
            <a:ext cx="52953" cy="52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19" name="Google Shape;21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1250" y="2191867"/>
            <a:ext cx="52953" cy="52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0" name="Google Shape;22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1250" y="2352379"/>
            <a:ext cx="52953" cy="52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21" name="Google Shape;22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1250" y="2539367"/>
            <a:ext cx="52953" cy="5295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/>
          <p:nvPr/>
        </p:nvSpPr>
        <p:spPr>
          <a:xfrm>
            <a:off x="5978277" y="1902619"/>
            <a:ext cx="2630388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Employs a hierarchical structure of feature-based rules for classification.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1"/>
          <p:cNvSpPr/>
          <p:nvPr/>
        </p:nvSpPr>
        <p:spPr>
          <a:xfrm>
            <a:off x="5978277" y="2697287"/>
            <a:ext cx="2630388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Splits data at each node based on specific feature values.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5978277" y="3245049"/>
            <a:ext cx="2630388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Reaches a decision at leaf nodes, representing the predicted class.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7168" y="1372045"/>
            <a:ext cx="1647674" cy="2861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3098800" y="1839634"/>
            <a:ext cx="6127750" cy="3441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1111"/>
              <a:buNone/>
            </a:pPr>
            <a:b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descr="preencoded.png" id="231" name="Google Shape;23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1250" y="2029700"/>
            <a:ext cx="52953" cy="52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1250" y="2191867"/>
            <a:ext cx="52953" cy="52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3" name="Google Shape;23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1250" y="2352379"/>
            <a:ext cx="52953" cy="529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4" name="Google Shape;234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1250" y="2539367"/>
            <a:ext cx="52953" cy="5295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2"/>
          <p:cNvSpPr/>
          <p:nvPr/>
        </p:nvSpPr>
        <p:spPr>
          <a:xfrm>
            <a:off x="540023" y="980256"/>
            <a:ext cx="3429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88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Random Forest</a:t>
            </a:r>
            <a:endParaRPr b="0" i="0" sz="26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2"/>
          <p:cNvSpPr/>
          <p:nvPr/>
        </p:nvSpPr>
        <p:spPr>
          <a:xfrm>
            <a:off x="2254523" y="1779167"/>
            <a:ext cx="2630388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Combines predictions from multiple individual decision trees.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2"/>
          <p:cNvSpPr/>
          <p:nvPr/>
        </p:nvSpPr>
        <p:spPr>
          <a:xfrm>
            <a:off x="2254564" y="2560910"/>
            <a:ext cx="2630388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Utilizes ensemble learning to improve accuracy and reduce overfitting.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2"/>
          <p:cNvSpPr/>
          <p:nvPr/>
        </p:nvSpPr>
        <p:spPr>
          <a:xfrm>
            <a:off x="2254523" y="3342653"/>
            <a:ext cx="2630388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Aggregates results through majority voting for the final classification.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0889" y="1408881"/>
            <a:ext cx="1977311" cy="3316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3"/>
          <p:cNvSpPr txBox="1"/>
          <p:nvPr>
            <p:ph type="title"/>
          </p:nvPr>
        </p:nvSpPr>
        <p:spPr>
          <a:xfrm>
            <a:off x="3098800" y="1839634"/>
            <a:ext cx="6127750" cy="3441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1111"/>
              <a:buNone/>
            </a:pPr>
            <a:b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45" name="Google Shape;245;p33"/>
          <p:cNvSpPr/>
          <p:nvPr/>
        </p:nvSpPr>
        <p:spPr>
          <a:xfrm>
            <a:off x="540023" y="980256"/>
            <a:ext cx="3429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88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Resnet(Residual Network)</a:t>
            </a:r>
            <a:endParaRPr b="0" i="0" sz="26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3"/>
          <p:cNvSpPr/>
          <p:nvPr/>
        </p:nvSpPr>
        <p:spPr>
          <a:xfrm>
            <a:off x="2549277" y="1993478"/>
            <a:ext cx="2630388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Leverages deep convolutional layers for intricate feature extraction.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3"/>
          <p:cNvSpPr/>
          <p:nvPr/>
        </p:nvSpPr>
        <p:spPr>
          <a:xfrm>
            <a:off x="2549277" y="2788146"/>
            <a:ext cx="2630388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Incorporates residual connections to mitigate vanishing gradient problems.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2549277" y="3582814"/>
            <a:ext cx="2630388" cy="740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4313" lvl="0" marL="214313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Clr>
                <a:srgbClr val="D7D4CC"/>
              </a:buClr>
              <a:buSzPts val="1188"/>
              <a:buFont typeface="Arial"/>
              <a:buChar char="•"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Enables training of extremely deep networks for effective feature learning.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6204" y="1535572"/>
            <a:ext cx="2142832" cy="3122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title"/>
          </p:nvPr>
        </p:nvSpPr>
        <p:spPr>
          <a:xfrm>
            <a:off x="3098800" y="1839634"/>
            <a:ext cx="6127750" cy="3441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1111"/>
              <a:buNone/>
            </a:pPr>
            <a:b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55" name="Google Shape;255;p34"/>
          <p:cNvSpPr/>
          <p:nvPr/>
        </p:nvSpPr>
        <p:spPr>
          <a:xfrm>
            <a:off x="3857179" y="687735"/>
            <a:ext cx="3066604" cy="339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5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Comparative Analysis</a:t>
            </a:r>
            <a:endParaRPr b="0" i="0" sz="2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4"/>
          <p:cNvSpPr/>
          <p:nvPr/>
        </p:nvSpPr>
        <p:spPr>
          <a:xfrm>
            <a:off x="3857179" y="1173064"/>
            <a:ext cx="4858643" cy="17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Evaluating the strengths of each model for leukemia detection.</a:t>
            </a:r>
            <a:endParaRPr b="0" i="0" sz="9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4"/>
          <p:cNvSpPr/>
          <p:nvPr/>
        </p:nvSpPr>
        <p:spPr>
          <a:xfrm>
            <a:off x="3857179" y="1457623"/>
            <a:ext cx="4858643" cy="676796"/>
          </a:xfrm>
          <a:prstGeom prst="roundRect">
            <a:avLst>
              <a:gd fmla="val 10133" name="adj"/>
            </a:avLst>
          </a:prstGeom>
          <a:solidFill>
            <a:srgbClr val="27272B"/>
          </a:solidFill>
          <a:ln cap="flat" cmpd="sng" w="22850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4"/>
          <p:cNvSpPr/>
          <p:nvPr/>
        </p:nvSpPr>
        <p:spPr>
          <a:xfrm>
            <a:off x="3842891" y="1457623"/>
            <a:ext cx="57150" cy="676796"/>
          </a:xfrm>
          <a:prstGeom prst="roundRect">
            <a:avLst>
              <a:gd fmla="val 321145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4"/>
          <p:cNvSpPr/>
          <p:nvPr/>
        </p:nvSpPr>
        <p:spPr>
          <a:xfrm>
            <a:off x="4036665" y="1594247"/>
            <a:ext cx="1359471" cy="1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3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SVM</a:t>
            </a:r>
            <a:endParaRPr b="0" i="0" sz="10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4"/>
          <p:cNvSpPr/>
          <p:nvPr/>
        </p:nvSpPr>
        <p:spPr>
          <a:xfrm>
            <a:off x="4036665" y="1822327"/>
            <a:ext cx="4542532" cy="17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Effective with clear margin of separation, robust in high dimensions.</a:t>
            </a:r>
            <a:endParaRPr b="0" i="0" sz="9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4"/>
          <p:cNvSpPr/>
          <p:nvPr/>
        </p:nvSpPr>
        <p:spPr>
          <a:xfrm>
            <a:off x="3857179" y="2231380"/>
            <a:ext cx="4858643" cy="676796"/>
          </a:xfrm>
          <a:prstGeom prst="roundRect">
            <a:avLst>
              <a:gd fmla="val 10133" name="adj"/>
            </a:avLst>
          </a:prstGeom>
          <a:solidFill>
            <a:srgbClr val="27272B"/>
          </a:solidFill>
          <a:ln cap="flat" cmpd="sng" w="22850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4"/>
          <p:cNvSpPr/>
          <p:nvPr/>
        </p:nvSpPr>
        <p:spPr>
          <a:xfrm>
            <a:off x="3842891" y="2231380"/>
            <a:ext cx="57150" cy="676796"/>
          </a:xfrm>
          <a:prstGeom prst="roundRect">
            <a:avLst>
              <a:gd fmla="val 321145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4"/>
          <p:cNvSpPr/>
          <p:nvPr/>
        </p:nvSpPr>
        <p:spPr>
          <a:xfrm>
            <a:off x="4036665" y="2368004"/>
            <a:ext cx="1359471" cy="1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3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Decision Tree</a:t>
            </a:r>
            <a:endParaRPr b="0" i="0" sz="10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4"/>
          <p:cNvSpPr/>
          <p:nvPr/>
        </p:nvSpPr>
        <p:spPr>
          <a:xfrm>
            <a:off x="4036665" y="2596084"/>
            <a:ext cx="4542532" cy="17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Interpretable, handles non-linear relationships well.</a:t>
            </a:r>
            <a:endParaRPr b="0" i="0" sz="9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4"/>
          <p:cNvSpPr/>
          <p:nvPr/>
        </p:nvSpPr>
        <p:spPr>
          <a:xfrm>
            <a:off x="3857179" y="3005138"/>
            <a:ext cx="4858643" cy="676796"/>
          </a:xfrm>
          <a:prstGeom prst="roundRect">
            <a:avLst>
              <a:gd fmla="val 10133" name="adj"/>
            </a:avLst>
          </a:prstGeom>
          <a:solidFill>
            <a:srgbClr val="27272B"/>
          </a:solidFill>
          <a:ln cap="flat" cmpd="sng" w="22850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3842891" y="3005138"/>
            <a:ext cx="57150" cy="676796"/>
          </a:xfrm>
          <a:prstGeom prst="roundRect">
            <a:avLst>
              <a:gd fmla="val 321145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4036665" y="3141762"/>
            <a:ext cx="1359471" cy="1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3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Random Forest</a:t>
            </a:r>
            <a:endParaRPr b="0" i="0" sz="10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4"/>
          <p:cNvSpPr/>
          <p:nvPr/>
        </p:nvSpPr>
        <p:spPr>
          <a:xfrm>
            <a:off x="4036665" y="3369841"/>
            <a:ext cx="4542532" cy="17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Reduces overfitting, high accuracy through ensemble methods.</a:t>
            </a:r>
            <a:endParaRPr b="0" i="0" sz="9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4"/>
          <p:cNvSpPr/>
          <p:nvPr/>
        </p:nvSpPr>
        <p:spPr>
          <a:xfrm>
            <a:off x="3857179" y="3778895"/>
            <a:ext cx="4858643" cy="676796"/>
          </a:xfrm>
          <a:prstGeom prst="roundRect">
            <a:avLst>
              <a:gd fmla="val 10133" name="adj"/>
            </a:avLst>
          </a:prstGeom>
          <a:solidFill>
            <a:srgbClr val="27272B"/>
          </a:solidFill>
          <a:ln cap="flat" cmpd="sng" w="22850">
            <a:solidFill>
              <a:srgbClr val="5F5F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4"/>
          <p:cNvSpPr/>
          <p:nvPr/>
        </p:nvSpPr>
        <p:spPr>
          <a:xfrm>
            <a:off x="3842891" y="3778895"/>
            <a:ext cx="57150" cy="676796"/>
          </a:xfrm>
          <a:prstGeom prst="roundRect">
            <a:avLst>
              <a:gd fmla="val 321145" name="adj"/>
            </a:avLst>
          </a:prstGeom>
          <a:solidFill>
            <a:srgbClr val="FFE14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4036665" y="3915519"/>
            <a:ext cx="1359471" cy="1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3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ResNet</a:t>
            </a:r>
            <a:endParaRPr b="0" i="0" sz="10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/>
          <p:nvPr/>
        </p:nvSpPr>
        <p:spPr>
          <a:xfrm>
            <a:off x="4036665" y="4143599"/>
            <a:ext cx="4542532" cy="175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Superior for complex image data, deep feature learning.</a:t>
            </a:r>
            <a:endParaRPr b="0" i="0" sz="93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/>
          <p:nvPr>
            <p:ph type="title"/>
          </p:nvPr>
        </p:nvSpPr>
        <p:spPr>
          <a:xfrm>
            <a:off x="3098800" y="1839634"/>
            <a:ext cx="6127750" cy="3441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1111"/>
              <a:buNone/>
            </a:pPr>
            <a:b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78" name="Google Shape;278;p35"/>
          <p:cNvSpPr/>
          <p:nvPr/>
        </p:nvSpPr>
        <p:spPr>
          <a:xfrm>
            <a:off x="540024" y="622176"/>
            <a:ext cx="4634954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88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Model Selection Rationale</a:t>
            </a:r>
            <a:endParaRPr b="0" i="0" sz="26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5"/>
          <p:cNvSpPr/>
          <p:nvPr/>
        </p:nvSpPr>
        <p:spPr>
          <a:xfrm>
            <a:off x="540024" y="1710854"/>
            <a:ext cx="4634954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Each model offers unique advantages for specific aspects of blood cell image analysis.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5"/>
          <p:cNvSpPr/>
          <p:nvPr/>
        </p:nvSpPr>
        <p:spPr>
          <a:xfrm>
            <a:off x="540023" y="2532459"/>
            <a:ext cx="17145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4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Traditional ML</a:t>
            </a:r>
            <a:endParaRPr b="0" i="0" sz="13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5"/>
          <p:cNvSpPr/>
          <p:nvPr/>
        </p:nvSpPr>
        <p:spPr>
          <a:xfrm>
            <a:off x="540023" y="2901033"/>
            <a:ext cx="2129284" cy="1234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SVM, Decision Tree, and Random Forest provide robust baselines and interpretability for feature-based classification.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5"/>
          <p:cNvSpPr/>
          <p:nvPr/>
        </p:nvSpPr>
        <p:spPr>
          <a:xfrm>
            <a:off x="3050456" y="2532459"/>
            <a:ext cx="17145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4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Deep Learning</a:t>
            </a:r>
            <a:endParaRPr b="0" i="0" sz="134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5"/>
          <p:cNvSpPr/>
          <p:nvPr/>
        </p:nvSpPr>
        <p:spPr>
          <a:xfrm>
            <a:off x="3050456" y="2901033"/>
            <a:ext cx="2129284" cy="148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8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ResNet excels in automatically learning complex hierarchical features directly from raw image data, crucial for subtle visual cues.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>
            <p:ph type="title"/>
          </p:nvPr>
        </p:nvSpPr>
        <p:spPr>
          <a:xfrm>
            <a:off x="3098800" y="1839634"/>
            <a:ext cx="6127750" cy="34414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1111"/>
              <a:buNone/>
            </a:pPr>
            <a:b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289" name="Google Shape;289;p36"/>
          <p:cNvSpPr/>
          <p:nvPr/>
        </p:nvSpPr>
        <p:spPr>
          <a:xfrm>
            <a:off x="504528" y="599182"/>
            <a:ext cx="3203526" cy="400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E14D"/>
                </a:solidFill>
                <a:latin typeface="Comfortaa"/>
                <a:ea typeface="Comfortaa"/>
                <a:cs typeface="Comfortaa"/>
                <a:sym typeface="Comfortaa"/>
              </a:rPr>
              <a:t>Future Directions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6"/>
          <p:cNvSpPr/>
          <p:nvPr/>
        </p:nvSpPr>
        <p:spPr>
          <a:xfrm>
            <a:off x="504528" y="1201564"/>
            <a:ext cx="4705946" cy="446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Potential enhancements and extensions for the current model architectures.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1" name="Google Shape;29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528" y="1799109"/>
            <a:ext cx="720774" cy="1015306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6"/>
          <p:cNvSpPr/>
          <p:nvPr/>
        </p:nvSpPr>
        <p:spPr>
          <a:xfrm>
            <a:off x="1359917" y="1943249"/>
            <a:ext cx="1601763" cy="20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Hybrid Models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6"/>
          <p:cNvSpPr/>
          <p:nvPr/>
        </p:nvSpPr>
        <p:spPr>
          <a:xfrm>
            <a:off x="1359917" y="2224237"/>
            <a:ext cx="3850556" cy="446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Combining strengths of ML and DL for improved performance.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528" y="2814415"/>
            <a:ext cx="720774" cy="864914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6"/>
          <p:cNvSpPr/>
          <p:nvPr/>
        </p:nvSpPr>
        <p:spPr>
          <a:xfrm>
            <a:off x="1359917" y="2958555"/>
            <a:ext cx="1601763" cy="20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Explainable AI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6"/>
          <p:cNvSpPr/>
          <p:nvPr/>
        </p:nvSpPr>
        <p:spPr>
          <a:xfrm>
            <a:off x="1359917" y="3239542"/>
            <a:ext cx="3850556" cy="223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Integrating techniques for better model interpretability.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7" name="Google Shape;297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528" y="3679329"/>
            <a:ext cx="720774" cy="864914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6"/>
          <p:cNvSpPr/>
          <p:nvPr/>
        </p:nvSpPr>
        <p:spPr>
          <a:xfrm>
            <a:off x="1359917" y="3823469"/>
            <a:ext cx="1739949" cy="200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D7D4CC"/>
                </a:solidFill>
                <a:latin typeface="Comfortaa"/>
                <a:ea typeface="Comfortaa"/>
                <a:cs typeface="Comfortaa"/>
                <a:sym typeface="Comfortaa"/>
              </a:rPr>
              <a:t>Real-time Processing</a:t>
            </a:r>
            <a:endParaRPr b="0" i="0" sz="12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6"/>
          <p:cNvSpPr/>
          <p:nvPr/>
        </p:nvSpPr>
        <p:spPr>
          <a:xfrm>
            <a:off x="1359917" y="4104456"/>
            <a:ext cx="3850556" cy="223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Optimizing models for faster diagnostic capabilities.</a:t>
            </a:r>
            <a:endParaRPr b="0" i="0" sz="112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